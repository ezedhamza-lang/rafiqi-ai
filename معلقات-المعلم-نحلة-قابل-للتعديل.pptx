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2102" y="457200"/>
            <a:ext cx="292608" cy="350185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87822" y="807385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62042" y="457200"/>
            <a:ext cx="292608" cy="310749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07762" y="767949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01122" y="457200"/>
            <a:ext cx="292608" cy="458232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46842" y="915432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73846" y="457200"/>
            <a:ext cx="292608" cy="529519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9566" y="986719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30217" y="457200"/>
            <a:ext cx="292608" cy="492409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75937" y="949609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96255" y="457200"/>
            <a:ext cx="292608" cy="319941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1975" y="777141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21236" y="457200"/>
            <a:ext cx="292608" cy="69016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66956" y="1147360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26360" y="457200"/>
            <a:ext cx="292608" cy="386591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72080" y="843791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78584" y="457200"/>
            <a:ext cx="292608" cy="750941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24304" y="1208141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29500" y="457200"/>
            <a:ext cx="292608" cy="473818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975220" y="931018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62617" y="457200"/>
            <a:ext cx="292608" cy="297747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08337" y="754947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901196" y="457200"/>
            <a:ext cx="292608" cy="41997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46916" y="877170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10972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/>
            </a:pPr>
            <a:r>
              <a:t>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164592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/>
            </a:pPr>
            <a:r>
              <a:t>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0292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/>
            </a:pPr>
            <a:r>
              <a:t>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50292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/>
            </a:pPr>
            <a:r>
              <a:t>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1737360"/>
            <a:ext cx="6126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E0A000"/>
                </a:solidFill>
                <a:latin typeface="Arial"/>
              </a:defRPr>
            </a:pPr>
            <a:r>
              <a:t>المعلقات الرسمية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3017520"/>
            <a:ext cx="6126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C3D1E"/>
                </a:solidFill>
                <a:latin typeface="Arial"/>
              </a:defRPr>
            </a:pPr>
            <a:r>
              <a:t>الخطة السنوية واليومية 2026-2027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023360"/>
            <a:ext cx="5212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latin typeface="Arial"/>
              </a:defRPr>
            </a:pPr>
            <a:r>
              <a:t>الصفوف من 1 إلى 6 ابتدائي  •  عربي • رياضيات • علوم • إسلامية • إنكليزية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0" y="4937760"/>
            <a:ext cx="3749039" cy="640080"/>
          </a:xfrm>
          <a:prstGeom prst="roundRect">
            <a:avLst/>
          </a:prstGeom>
          <a:solidFill>
            <a:srgbClr val="5C3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  <a:latin typeface="Arial"/>
              </a:defRPr>
            </a:pPr>
            <a:r>
              <a:t>ملف قابل للتعديل بالكامل ✏️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64008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C68A00"/>
                </a:solidFill>
                <a:latin typeface="Arial"/>
              </a:defRPr>
            </a:pPr>
            <a:r>
              <a:t>مفكرة المعلم 2026-2027  |  الصفوف 1-6 ابتدائي  |  قابل للتعديل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2102" y="457200"/>
            <a:ext cx="292608" cy="350185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87822" y="807385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62042" y="457200"/>
            <a:ext cx="292608" cy="310749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07762" y="767949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01122" y="457200"/>
            <a:ext cx="292608" cy="458232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46842" y="915432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73846" y="457200"/>
            <a:ext cx="292608" cy="529519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9566" y="986719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30217" y="457200"/>
            <a:ext cx="292608" cy="492409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75937" y="949609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96255" y="457200"/>
            <a:ext cx="292608" cy="319941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1975" y="777141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21236" y="457200"/>
            <a:ext cx="292608" cy="69016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66956" y="1147360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26360" y="457200"/>
            <a:ext cx="292608" cy="386591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72080" y="843791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78584" y="457200"/>
            <a:ext cx="292608" cy="750941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24304" y="1208141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29500" y="457200"/>
            <a:ext cx="292608" cy="473818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975220" y="931018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62617" y="457200"/>
            <a:ext cx="292608" cy="297747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08337" y="754947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901196" y="457200"/>
            <a:ext cx="292608" cy="41997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46916" y="877170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579876" y="1097280"/>
            <a:ext cx="5029200" cy="105156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000000"/>
                </a:solidFill>
                <a:latin typeface="Arial"/>
              </a:defRPr>
            </a:pPr>
            <a:r>
              <a:t>البيانات الشخصية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100584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/>
            </a:pPr>
            <a:r>
              <a:t>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128016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/>
            </a:pPr>
            <a:r>
              <a:t>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30352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/>
            </a:pPr>
            <a:r>
              <a:t>🍯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2286000" y="2377440"/>
          <a:ext cx="75895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/>
                <a:gridCol w="3794760"/>
              </a:tblGrid>
              <a:tr h="5791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القيمة (اضغط وعدل)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البيان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....................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المدرسة الابتدائية :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....................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المربي (ة) :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الأول □  الثاني □  الثالث □  الرابع □  الخامس □  السادس 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المستوى / الصف :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....................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المادة :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2026 - 2027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السنة الدراسية :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4114800" y="64008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C68A00"/>
                </a:solidFill>
                <a:latin typeface="Arial"/>
              </a:defRPr>
            </a:pPr>
            <a:r>
              <a:t>مفكرة المعلم 2026-2027  |  الصفوف 1-6 ابتدائي  |  قابل للتعديل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2102" y="457200"/>
            <a:ext cx="292608" cy="350185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87822" y="807385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62042" y="457200"/>
            <a:ext cx="292608" cy="310749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07762" y="767949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01122" y="457200"/>
            <a:ext cx="292608" cy="458232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46842" y="915432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73846" y="457200"/>
            <a:ext cx="292608" cy="529519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9566" y="986719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30217" y="457200"/>
            <a:ext cx="292608" cy="492409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75937" y="949609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96255" y="457200"/>
            <a:ext cx="292608" cy="319941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1975" y="777141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21236" y="457200"/>
            <a:ext cx="292608" cy="69016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66956" y="1147360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26360" y="457200"/>
            <a:ext cx="292608" cy="386591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72080" y="843791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78584" y="457200"/>
            <a:ext cx="292608" cy="750941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24304" y="1208141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29500" y="457200"/>
            <a:ext cx="292608" cy="473818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975220" y="931018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62617" y="457200"/>
            <a:ext cx="292608" cy="297747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08337" y="754947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901196" y="457200"/>
            <a:ext cx="292608" cy="41997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46916" y="877170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579876" y="822960"/>
            <a:ext cx="5029200" cy="105156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000000"/>
                </a:solidFill>
                <a:latin typeface="Arial"/>
              </a:defRPr>
            </a:pPr>
            <a:r>
              <a:t>جدول الأوقات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9144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/>
            </a:pPr>
            <a:r>
              <a:t>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9144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/>
            </a:pPr>
            <a:r>
              <a:t>🐝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40080" y="2103120"/>
          <a:ext cx="10881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6705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السبت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الجمعة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الخميس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الأربعاء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الثلاثاء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الاثنين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التوقيت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8 - 10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10 - 12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12 - 13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13 - 15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15 - 17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4114800" y="64008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C68A00"/>
                </a:solidFill>
                <a:latin typeface="Arial"/>
              </a:defRPr>
            </a:pPr>
            <a:r>
              <a:t>مفكرة المعلم 2026-2027  |  الصفوف 1-6 ابتدائي  |  قابل للتعديل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2102" y="457200"/>
            <a:ext cx="292608" cy="350185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87822" y="807385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62042" y="457200"/>
            <a:ext cx="292608" cy="310749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07762" y="767949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01122" y="457200"/>
            <a:ext cx="292608" cy="458232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46842" y="915432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73846" y="457200"/>
            <a:ext cx="292608" cy="529519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9566" y="986719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30217" y="457200"/>
            <a:ext cx="292608" cy="492409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75937" y="949609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96255" y="457200"/>
            <a:ext cx="292608" cy="319941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1975" y="777141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21236" y="457200"/>
            <a:ext cx="292608" cy="69016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66956" y="1147360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26360" y="457200"/>
            <a:ext cx="292608" cy="386591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72080" y="843791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78584" y="457200"/>
            <a:ext cx="292608" cy="750941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24304" y="1208141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29500" y="457200"/>
            <a:ext cx="292608" cy="473818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975220" y="931018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62617" y="457200"/>
            <a:ext cx="292608" cy="297747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08337" y="754947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901196" y="457200"/>
            <a:ext cx="292608" cy="41997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46916" y="877170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259836" y="822960"/>
            <a:ext cx="5669280" cy="105156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000000"/>
                </a:solidFill>
                <a:latin typeface="Arial"/>
              </a:defRPr>
            </a:pPr>
            <a:r>
              <a:t>جدول توزيع المواد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9144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/>
            </a:pPr>
            <a:r>
              <a:t>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9144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/>
            </a:pPr>
            <a:r>
              <a:t>🐝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40080" y="2103120"/>
          <a:ext cx="10881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/>
                <a:gridCol w="1813560"/>
                <a:gridCol w="1813560"/>
                <a:gridCol w="1813560"/>
                <a:gridCol w="1813560"/>
                <a:gridCol w="1813560"/>
              </a:tblGrid>
              <a:tr h="6705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السبت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الجمعة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الخميس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الأربعاء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الثلاثاء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الاثنين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4114800" y="64008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C68A00"/>
                </a:solidFill>
                <a:latin typeface="Arial"/>
              </a:defRPr>
            </a:pPr>
            <a:r>
              <a:t>مفكرة المعلم 2026-2027  |  الصفوف 1-6 ابتدائي  |  قابل للتعديل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2102" y="457200"/>
            <a:ext cx="292608" cy="350185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87822" y="807385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62042" y="457200"/>
            <a:ext cx="292608" cy="310749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07762" y="767949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01122" y="457200"/>
            <a:ext cx="292608" cy="458232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46842" y="915432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73846" y="457200"/>
            <a:ext cx="292608" cy="529519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9566" y="986719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30217" y="457200"/>
            <a:ext cx="292608" cy="492409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75937" y="949609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96255" y="457200"/>
            <a:ext cx="292608" cy="319941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1975" y="777141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21236" y="457200"/>
            <a:ext cx="292608" cy="69016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66956" y="1147360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26360" y="457200"/>
            <a:ext cx="292608" cy="386591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72080" y="843791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78584" y="457200"/>
            <a:ext cx="292608" cy="750941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24304" y="1208141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29500" y="457200"/>
            <a:ext cx="292608" cy="473818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975220" y="931018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62617" y="457200"/>
            <a:ext cx="292608" cy="297747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08337" y="754947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901196" y="457200"/>
            <a:ext cx="292608" cy="41997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46916" y="877170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579876" y="822960"/>
            <a:ext cx="5029200" cy="105156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000000"/>
                </a:solidFill>
                <a:latin typeface="Arial"/>
              </a:defRPr>
            </a:pPr>
            <a:r>
              <a:t>القائمة الاسمية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7432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/>
            </a:pPr>
            <a:r>
              <a:t>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27432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/>
            </a:pPr>
            <a:r>
              <a:t>🐝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40080" y="2103120"/>
          <a:ext cx="52120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188720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الإسم و اللقب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309360" y="2103120"/>
          <a:ext cx="52120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188720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الإسم و اللقب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  <a:tr h="195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FC72C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4114800" y="64008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C68A00"/>
                </a:solidFill>
                <a:latin typeface="Arial"/>
              </a:defRPr>
            </a:pPr>
            <a:r>
              <a:t>مفكرة المعلم 2026-2027  |  الصفوف 1-6 ابتدائي  |  قابل للتعديل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2102" y="457200"/>
            <a:ext cx="292608" cy="350185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87822" y="807385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62042" y="457200"/>
            <a:ext cx="292608" cy="310749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07762" y="767949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01122" y="457200"/>
            <a:ext cx="292608" cy="458232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46842" y="915432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73846" y="457200"/>
            <a:ext cx="292608" cy="529519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9566" y="986719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30217" y="457200"/>
            <a:ext cx="292608" cy="492409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75937" y="949609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96255" y="457200"/>
            <a:ext cx="292608" cy="319941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1975" y="777141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21236" y="457200"/>
            <a:ext cx="292608" cy="69016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66956" y="1147360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26360" y="457200"/>
            <a:ext cx="292608" cy="386591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72080" y="843791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78584" y="457200"/>
            <a:ext cx="292608" cy="750941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24304" y="1208141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29500" y="457200"/>
            <a:ext cx="292608" cy="473818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975220" y="931018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62617" y="457200"/>
            <a:ext cx="292608" cy="297747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08337" y="754947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901196" y="457200"/>
            <a:ext cx="292608" cy="41997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46916" y="877170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808476" y="822960"/>
            <a:ext cx="4572000" cy="105156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000000"/>
                </a:solidFill>
                <a:latin typeface="Arial"/>
              </a:defRPr>
            </a:pPr>
            <a:r>
              <a:t>هرم الأعمار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18288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/>
            </a:pPr>
            <a:r>
              <a:t>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0" y="2103120"/>
            <a:ext cx="1280160" cy="3840480"/>
          </a:xfrm>
          <a:prstGeom prst="roundRect">
            <a:avLst/>
          </a:prstGeom>
          <a:solidFill>
            <a:srgbClr val="E07A2E"/>
          </a:solidFill>
          <a:ln>
            <a:solidFill>
              <a:srgbClr val="5C3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defRPr sz="1200">
                <a:latin typeface="Arial"/>
              </a:defRPr>
            </a:pPr>
            <a:r>
              <a:t>ذكور</a:t>
            </a:r>
            <a:br/>
            <a:r>
              <a:t>(عدل الرقم)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52160" y="3017520"/>
            <a:ext cx="1280160" cy="2926080"/>
          </a:xfrm>
          <a:prstGeom prst="roundRect">
            <a:avLst/>
          </a:prstGeom>
          <a:solidFill>
            <a:srgbClr val="E89A2E"/>
          </a:solidFill>
          <a:ln>
            <a:solidFill>
              <a:srgbClr val="5C3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defRPr sz="1200">
                <a:latin typeface="Arial"/>
              </a:defRPr>
            </a:pPr>
            <a:r>
              <a:t>إناث</a:t>
            </a:r>
            <a:br/>
            <a:r>
              <a:t>(عدل الرقم)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3931920"/>
            <a:ext cx="1280160" cy="2011680"/>
          </a:xfrm>
          <a:prstGeom prst="roundRect">
            <a:avLst/>
          </a:prstGeom>
          <a:solidFill>
            <a:srgbClr val="FFC72C"/>
          </a:solidFill>
          <a:ln>
            <a:solidFill>
              <a:srgbClr val="5C3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defRPr sz="1200">
                <a:latin typeface="Arial"/>
              </a:defRPr>
            </a:pPr>
            <a:r>
              <a:t>مجموع</a:t>
            </a:r>
            <a:br/>
            <a:r>
              <a:t>(عدل الرقم)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26880" y="4846320"/>
            <a:ext cx="1280160" cy="1097280"/>
          </a:xfrm>
          <a:prstGeom prst="roundRect">
            <a:avLst/>
          </a:prstGeom>
          <a:solidFill>
            <a:srgbClr val="FFE36E"/>
          </a:solidFill>
          <a:ln>
            <a:solidFill>
              <a:srgbClr val="5C3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defRPr sz="1200">
                <a:latin typeface="Arial"/>
              </a:defRPr>
            </a:pPr>
            <a:r>
              <a:t>ملاحظة</a:t>
            </a:r>
            <a:br/>
            <a:r>
              <a:t>(عدل الرقم)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64008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C68A00"/>
                </a:solidFill>
                <a:latin typeface="Arial"/>
              </a:defRPr>
            </a:pPr>
            <a:r>
              <a:t>مفكرة المعلم 2026-2027  |  الصفوف 1-6 ابتدائي  |  قابل للتعديل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2102" y="457200"/>
            <a:ext cx="292608" cy="350185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87822" y="807385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62042" y="457200"/>
            <a:ext cx="292608" cy="310749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07762" y="767949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01122" y="457200"/>
            <a:ext cx="292608" cy="458232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46842" y="915432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73846" y="457200"/>
            <a:ext cx="292608" cy="529519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9566" y="986719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30217" y="457200"/>
            <a:ext cx="292608" cy="492409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75937" y="949609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96255" y="457200"/>
            <a:ext cx="292608" cy="319941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1975" y="777141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21236" y="457200"/>
            <a:ext cx="292608" cy="69016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66956" y="1147360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26360" y="457200"/>
            <a:ext cx="292608" cy="386591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72080" y="843791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78584" y="457200"/>
            <a:ext cx="292608" cy="750941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24304" y="1208141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29500" y="457200"/>
            <a:ext cx="292608" cy="473818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975220" y="931018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62617" y="457200"/>
            <a:ext cx="292608" cy="297747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08337" y="754947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901196" y="457200"/>
            <a:ext cx="292608" cy="41997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46916" y="877170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579876" y="822960"/>
            <a:ext cx="5029200" cy="105156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000000"/>
                </a:solidFill>
                <a:latin typeface="Arial"/>
              </a:defRPr>
            </a:pPr>
            <a:r>
              <a:t>قائمة الأناشيد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22860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/>
            </a:pPr>
            <a:r>
              <a:t>🐝🎧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37744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>
                <a:latin typeface="Arial"/>
              </a:defRPr>
            </a:pPr>
            <a:r>
              <a:t>1. ....................................................  ♪</a:t>
            </a:r>
          </a:p>
          <a:p>
            <a:pPr algn="r">
              <a:defRPr sz="1600">
                <a:latin typeface="Arial"/>
              </a:defRPr>
            </a:pPr>
            <a:r>
              <a:t>2. ....................................................  ♪</a:t>
            </a:r>
          </a:p>
          <a:p>
            <a:pPr algn="r">
              <a:defRPr sz="1600">
                <a:latin typeface="Arial"/>
              </a:defRPr>
            </a:pPr>
            <a:r>
              <a:t>3. ....................................................  ♪</a:t>
            </a:r>
          </a:p>
          <a:p>
            <a:pPr algn="r">
              <a:defRPr sz="1600">
                <a:latin typeface="Arial"/>
              </a:defRPr>
            </a:pPr>
            <a:r>
              <a:t>4. ....................................................  ♪</a:t>
            </a:r>
          </a:p>
          <a:p>
            <a:pPr algn="r">
              <a:defRPr sz="1600">
                <a:latin typeface="Arial"/>
              </a:defRPr>
            </a:pPr>
            <a:r>
              <a:t>5. ....................................................  ♪</a:t>
            </a:r>
          </a:p>
          <a:p>
            <a:pPr algn="r">
              <a:defRPr sz="1600">
                <a:latin typeface="Arial"/>
              </a:defRPr>
            </a:pPr>
            <a:r>
              <a:t>6. ....................................................  ♪</a:t>
            </a:r>
          </a:p>
          <a:p>
            <a:pPr algn="r">
              <a:defRPr sz="1600">
                <a:latin typeface="Arial"/>
              </a:defRPr>
            </a:pPr>
            <a:r>
              <a:t>7. ....................................................  ♪</a:t>
            </a:r>
          </a:p>
          <a:p>
            <a:pPr algn="r">
              <a:defRPr sz="1600">
                <a:latin typeface="Arial"/>
              </a:defRPr>
            </a:pPr>
            <a:r>
              <a:t>8. ....................................................  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64008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C68A00"/>
                </a:solidFill>
                <a:latin typeface="Arial"/>
              </a:defRPr>
            </a:pPr>
            <a:r>
              <a:t>مفكرة المعلم 2026-2027  |  الصفوف 1-6 ابتدائي  |  قابل للتعديل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2102" y="457200"/>
            <a:ext cx="292608" cy="350185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87822" y="807385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62042" y="457200"/>
            <a:ext cx="292608" cy="310749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07762" y="767949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01122" y="457200"/>
            <a:ext cx="292608" cy="458232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46842" y="915432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73846" y="457200"/>
            <a:ext cx="292608" cy="529519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9566" y="986719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30217" y="457200"/>
            <a:ext cx="292608" cy="492409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75937" y="949609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96255" y="457200"/>
            <a:ext cx="292608" cy="319941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1975" y="777141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21236" y="457200"/>
            <a:ext cx="292608" cy="69016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66956" y="1147360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26360" y="457200"/>
            <a:ext cx="292608" cy="386591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72080" y="843791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78584" y="457200"/>
            <a:ext cx="292608" cy="750941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24304" y="1208141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29500" y="457200"/>
            <a:ext cx="292608" cy="473818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975220" y="931018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62617" y="457200"/>
            <a:ext cx="292608" cy="297747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08337" y="754947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901196" y="457200"/>
            <a:ext cx="292608" cy="41997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46916" y="877170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579876" y="822960"/>
            <a:ext cx="5029200" cy="105156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000000"/>
                </a:solidFill>
                <a:latin typeface="Arial"/>
              </a:defRPr>
            </a:pPr>
            <a:r>
              <a:t>قائمة المحفوظات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45720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/>
            </a:pPr>
            <a:r>
              <a:t>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2286000"/>
            <a:ext cx="7589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latin typeface="Arial"/>
              </a:defRPr>
            </a:pPr>
            <a:r>
              <a:t>✦ ....................................................................</a:t>
            </a:r>
          </a:p>
          <a:p>
            <a:pPr algn="ctr">
              <a:defRPr sz="1500">
                <a:latin typeface="Arial"/>
              </a:defRPr>
            </a:pPr>
            <a:r>
              <a:t>✦ ....................................................................</a:t>
            </a:r>
          </a:p>
          <a:p>
            <a:pPr algn="ctr">
              <a:defRPr sz="1500">
                <a:latin typeface="Arial"/>
              </a:defRPr>
            </a:pPr>
            <a:r>
              <a:t>✦ ....................................................................</a:t>
            </a:r>
          </a:p>
          <a:p>
            <a:pPr algn="ctr">
              <a:defRPr sz="1500">
                <a:latin typeface="Arial"/>
              </a:defRPr>
            </a:pPr>
            <a:r>
              <a:t>✦ ....................................................................</a:t>
            </a:r>
          </a:p>
          <a:p>
            <a:pPr algn="ctr">
              <a:defRPr sz="1500">
                <a:latin typeface="Arial"/>
              </a:defRPr>
            </a:pPr>
            <a:r>
              <a:t>✦ ....................................................................</a:t>
            </a:r>
          </a:p>
          <a:p>
            <a:pPr algn="ctr">
              <a:defRPr sz="1500">
                <a:latin typeface="Arial"/>
              </a:defRPr>
            </a:pPr>
            <a:r>
              <a:t>✦ ....................................................................</a:t>
            </a:r>
          </a:p>
          <a:p>
            <a:pPr algn="ctr">
              <a:defRPr sz="1500">
                <a:latin typeface="Arial"/>
              </a:defRPr>
            </a:pPr>
            <a:r>
              <a:t>✦ ....................................................................</a:t>
            </a:r>
          </a:p>
          <a:p>
            <a:pPr algn="ctr">
              <a:defRPr sz="1500">
                <a:latin typeface="Arial"/>
              </a:defRPr>
            </a:pPr>
            <a:r>
              <a:t>✦ ....................................................................</a:t>
            </a:r>
          </a:p>
          <a:p>
            <a:pPr algn="ctr">
              <a:defRPr sz="1500">
                <a:latin typeface="Arial"/>
              </a:defRPr>
            </a:pPr>
            <a:r>
              <a:t>✦ ....................................................................</a:t>
            </a:r>
          </a:p>
          <a:p>
            <a:pPr algn="ctr">
              <a:defRPr sz="1500">
                <a:latin typeface="Arial"/>
              </a:defRPr>
            </a:pPr>
            <a:r>
              <a:t>✦ ....................................................................</a:t>
            </a:r>
          </a:p>
          <a:p>
            <a:pPr algn="ctr">
              <a:defRPr sz="1500">
                <a:latin typeface="Arial"/>
              </a:defRPr>
            </a:pPr>
            <a:r>
              <a:t>✦ ....................................................................</a:t>
            </a:r>
          </a:p>
          <a:p>
            <a:pPr algn="ctr">
              <a:defRPr sz="1500">
                <a:latin typeface="Arial"/>
              </a:defRPr>
            </a:pPr>
            <a:r>
              <a:t>✦ ....................................................................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64008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C68A00"/>
                </a:solidFill>
                <a:latin typeface="Arial"/>
              </a:defRPr>
            </a:pPr>
            <a:r>
              <a:t>مفكرة المعلم 2026-2027  |  الصفوف 1-6 ابتدائي  |  قابل للتعديل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2102" y="457200"/>
            <a:ext cx="292608" cy="350185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87822" y="807385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62042" y="457200"/>
            <a:ext cx="292608" cy="310749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07762" y="767949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01122" y="457200"/>
            <a:ext cx="292608" cy="458232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46842" y="915432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73846" y="457200"/>
            <a:ext cx="292608" cy="529519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9566" y="986719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30217" y="457200"/>
            <a:ext cx="292608" cy="492409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75937" y="949609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96255" y="457200"/>
            <a:ext cx="292608" cy="319941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1975" y="777141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21236" y="457200"/>
            <a:ext cx="292608" cy="69016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66956" y="1147360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26360" y="457200"/>
            <a:ext cx="292608" cy="386591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72080" y="843791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78584" y="457200"/>
            <a:ext cx="292608" cy="750941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24304" y="1208141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29500" y="457200"/>
            <a:ext cx="292608" cy="473818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975220" y="931018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62617" y="457200"/>
            <a:ext cx="292608" cy="297747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08337" y="754947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901196" y="457200"/>
            <a:ext cx="292608" cy="41997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46916" y="877170"/>
            <a:ext cx="201168" cy="2011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259836" y="822960"/>
            <a:ext cx="5669280" cy="1051560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000000"/>
                </a:solidFill>
                <a:latin typeface="Arial"/>
              </a:defRPr>
            </a:pPr>
            <a:r>
              <a:t>قائمة السور القرآنية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2860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/>
            </a:pPr>
            <a:r>
              <a:t>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10972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/>
            </a:pPr>
            <a:r>
              <a:t>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2194560"/>
            <a:ext cx="265176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latin typeface="Arial"/>
              </a:defRPr>
            </a:pPr>
            <a:r>
              <a:t>سورة ....................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46320" y="2194560"/>
            <a:ext cx="265176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latin typeface="Arial"/>
              </a:defRPr>
            </a:pPr>
            <a:r>
              <a:t>سورة ....................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63840" y="2194560"/>
            <a:ext cx="265176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latin typeface="Arial"/>
              </a:defRPr>
            </a:pPr>
            <a:r>
              <a:t>سورة ....................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28800" y="3566160"/>
            <a:ext cx="265176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latin typeface="Arial"/>
              </a:defRPr>
            </a:pPr>
            <a:r>
              <a:t>سورة ....................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46320" y="3566160"/>
            <a:ext cx="265176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latin typeface="Arial"/>
              </a:defRPr>
            </a:pPr>
            <a:r>
              <a:t>سورة ....................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3566160"/>
            <a:ext cx="265176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latin typeface="Arial"/>
              </a:defRPr>
            </a:pPr>
            <a:r>
              <a:t>سورة ....................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28800" y="4937760"/>
            <a:ext cx="265176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latin typeface="Arial"/>
              </a:defRPr>
            </a:pPr>
            <a:r>
              <a:t>سورة ....................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0" y="4937760"/>
            <a:ext cx="265176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latin typeface="Arial"/>
              </a:defRPr>
            </a:pPr>
            <a:r>
              <a:t>سورة ....................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63840" y="4937760"/>
            <a:ext cx="265176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latin typeface="Arial"/>
              </a:defRPr>
            </a:pPr>
            <a:r>
              <a:t>سورة ....................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64008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C68A00"/>
                </a:solidFill>
                <a:latin typeface="Arial"/>
              </a:defRPr>
            </a:pPr>
            <a:r>
              <a:t>مفكرة المعلم 2026-2027  |  الصفوف 1-6 ابتدائي  |  قابل للتعديل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